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87" r:id="rId1"/>
  </p:sldMasterIdLst>
  <p:sldIdLst>
    <p:sldId id="256" r:id="rId2"/>
    <p:sldId id="257" r:id="rId3"/>
    <p:sldId id="258" r:id="rId4"/>
    <p:sldId id="261" r:id="rId5"/>
    <p:sldId id="259" r:id="rId6"/>
    <p:sldId id="262" r:id="rId7"/>
    <p:sldId id="263" r:id="rId8"/>
    <p:sldId id="265" r:id="rId9"/>
    <p:sldId id="264" r:id="rId10"/>
    <p:sldId id="266" r:id="rId11"/>
    <p:sldId id="26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386"/>
    <p:restoredTop sz="95470"/>
  </p:normalViewPr>
  <p:slideViewPr>
    <p:cSldViewPr snapToGrid="0" snapToObjects="1">
      <p:cViewPr varScale="1">
        <p:scale>
          <a:sx n="160" d="100"/>
          <a:sy n="160" d="100"/>
        </p:scale>
        <p:origin x="11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8403" y="945913"/>
            <a:ext cx="8637073" cy="2618554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8404" y="3564467"/>
            <a:ext cx="8637072" cy="107109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10/3/25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7124" y="329307"/>
            <a:ext cx="5943668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24392" y="134930"/>
            <a:ext cx="811019" cy="503578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5783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9B3A1323-8D79-1946-B0D7-40001CF92E9D}" type="datetimeFigureOut">
              <a:rPr lang="en-US" smtClean="0"/>
              <a:pPr/>
              <a:t>10/3/25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4" name="Picture 2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3734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7" y="1756129"/>
            <a:ext cx="8619060" cy="2050065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3806195"/>
            <a:ext cx="861906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10/3/25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4448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052" y="958037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9166" y="2165621"/>
            <a:ext cx="4645152" cy="32938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606" y="2171769"/>
            <a:ext cx="4645152" cy="328709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10/3/25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1783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6" y="953336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2169727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9166" y="2974448"/>
            <a:ext cx="4645152" cy="24938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337" y="2173181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337" y="2971669"/>
            <a:ext cx="4645152" cy="248719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10/3/25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55042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10/3/25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65275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10/3/25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168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291" y="952578"/>
            <a:ext cx="3275013" cy="2322176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3334" y="952578"/>
            <a:ext cx="6012470" cy="4505221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291" y="3274754"/>
            <a:ext cx="3275013" cy="217891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10/3/25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5854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24" y="1129513"/>
            <a:ext cx="5854872" cy="192420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8247" y="3053721"/>
            <a:ext cx="5846486" cy="209601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5300" y="5469856"/>
            <a:ext cx="5849605" cy="320123"/>
          </a:xfrm>
        </p:spPr>
        <p:txBody>
          <a:bodyPr/>
          <a:lstStyle>
            <a:lvl1pPr algn="l">
              <a:defRPr/>
            </a:lvl1pPr>
          </a:lstStyle>
          <a:p>
            <a:fld id="{09B482E8-6E0E-1B4F-B1FD-C69DB9E858D9}" type="datetimeFigureOut">
              <a:rPr lang="en-US" smtClean="0"/>
              <a:pPr/>
              <a:t>10/3/25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300" y="318640"/>
            <a:ext cx="4877818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76794" y="137408"/>
            <a:ext cx="811019" cy="503578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8549" b="36564"/>
          <a:stretch/>
        </p:blipFill>
        <p:spPr>
          <a:xfrm>
            <a:off x="1125460" y="643464"/>
            <a:ext cx="5879592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8041917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10/3/25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64823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4709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0270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10/3/25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7" name="Picture 16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59215" b="36435"/>
          <a:stretch/>
        </p:blipFill>
        <p:spPr>
          <a:xfrm rot="5400000">
            <a:off x="8642279" y="3046916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8378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0270" y="2171769"/>
            <a:ext cx="9603275" cy="329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10/3/25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18076" y="137408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793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uides.library.harvard.edu/literaturereview" TargetMode="External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uides.library.harvard.edu/literaturereview" TargetMode="External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url?sa=t&amp;rct=j&amp;q=&amp;esrc=s&amp;source=web&amp;cd=&amp;ved=2ahUKEwjWqsaNiP3rAhXuYd8KHQEHDC8QFjAAegQIBhAB&amp;url=https%3A%2F%2Fwww.researchgate.net%2Fprofile%2FVaidehiben_Patel%2Fpost%2FCan_anyone_suggest_me_different_methods_to_prepared_chemically_competent_Ecoli_cells_please%2Fattachment%2F5e85d7423843b0ba47e9df6e%2FAS%253A875847384850448%25401585829697854%2Fdownload%2Fliterature_reviews_made_easy_ppt.pdf&amp;usg=AOvVaw3TKWy7OwZXdQCAWwcSn8x2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uides.library.harvard.edu/literaturereview" TargetMode="External"/><Relationship Id="rId2" Type="http://schemas.openxmlformats.org/officeDocument/2006/relationships/hyperlink" Target="https://writingproject.fas.harvard.edu/pages/senior-thesis-writing-guide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libguides.princeton.edu/c.php?g=84307&amp;p=907383" TargetMode="External"/><Relationship Id="rId4" Type="http://schemas.openxmlformats.org/officeDocument/2006/relationships/hyperlink" Target="https://socthesis.fas.harvard.edu/files/socseniorthesis/files/pres-litreview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CA83C-1F41-F848-90C1-D93482F261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000" dirty="0"/>
              <a:t>A brief guide to literature reviews, managing citations, and using </a:t>
            </a:r>
            <a:r>
              <a:rPr lang="en-US" sz="5000" dirty="0" err="1"/>
              <a:t>BibTeX</a:t>
            </a:r>
            <a:endParaRPr lang="en-US" sz="5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A6920-8DB1-D946-87AA-06E53FD5F3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8404" y="4906249"/>
            <a:ext cx="9963666" cy="1071095"/>
          </a:xfrm>
        </p:spPr>
        <p:txBody>
          <a:bodyPr>
            <a:normAutofit/>
          </a:bodyPr>
          <a:lstStyle/>
          <a:p>
            <a:r>
              <a:rPr lang="en-US" dirty="0"/>
              <a:t>Stat 99r, Fall 2025            				           		        October 3, 2025</a:t>
            </a:r>
          </a:p>
        </p:txBody>
      </p:sp>
    </p:spTree>
    <p:extLst>
      <p:ext uri="{BB962C8B-B14F-4D97-AF65-F5344CB8AC3E}">
        <p14:creationId xmlns:p14="http://schemas.microsoft.com/office/powerpoint/2010/main" val="3624301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C7FA3-FA7F-5741-BD56-8F5F3BFA7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literature review?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5F63F-E754-3449-BD50-BFA46BC0F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270" y="1749287"/>
            <a:ext cx="4226921" cy="371705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Purpose</a:t>
            </a:r>
          </a:p>
          <a:p>
            <a:pPr lvl="1"/>
            <a:r>
              <a:rPr lang="en-US" dirty="0"/>
              <a:t>Identify known results in an area of research </a:t>
            </a:r>
          </a:p>
          <a:p>
            <a:pPr lvl="1"/>
            <a:r>
              <a:rPr lang="en-US" dirty="0"/>
              <a:t>Identify open questions</a:t>
            </a:r>
          </a:p>
          <a:p>
            <a:pPr lvl="1"/>
            <a:r>
              <a:rPr lang="en-US" dirty="0"/>
              <a:t>Makes a case for the importance of </a:t>
            </a:r>
            <a:r>
              <a:rPr lang="en-US" b="1" dirty="0"/>
              <a:t>your</a:t>
            </a:r>
            <a:r>
              <a:rPr lang="en-US" dirty="0"/>
              <a:t> research project</a:t>
            </a:r>
          </a:p>
          <a:p>
            <a:r>
              <a:rPr lang="en-US" dirty="0"/>
              <a:t>Process</a:t>
            </a:r>
          </a:p>
          <a:p>
            <a:pPr lvl="1"/>
            <a:r>
              <a:rPr lang="en-US" dirty="0"/>
              <a:t>Many iterations of reviewing, managing, synthesizing, and writing about your thesis project with relevant background</a:t>
            </a:r>
          </a:p>
          <a:p>
            <a:pPr lvl="1"/>
            <a:r>
              <a:rPr lang="en-US" dirty="0"/>
              <a:t>A narrative which motivates your research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F274CA-5684-8248-871D-0DBB181F8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62" y="1477941"/>
            <a:ext cx="3556000" cy="4241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119536-DA8E-524E-B064-EF088D81EE16}"/>
              </a:ext>
            </a:extLst>
          </p:cNvPr>
          <p:cNvSpPr txBox="1"/>
          <p:nvPr/>
        </p:nvSpPr>
        <p:spPr>
          <a:xfrm>
            <a:off x="6849565" y="5719741"/>
            <a:ext cx="45784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hlinkClick r:id="rId3"/>
              </a:rPr>
              <a:t>The Literature Review: A Research Journey, Gutman Library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4207421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C7FA3-FA7F-5741-BD56-8F5F3BFA7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literature review</a:t>
            </a:r>
            <a:r>
              <a:rPr lang="en-US" baseline="30000" dirty="0"/>
              <a:t>4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5F63F-E754-3449-BD50-BFA46BC0F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270" y="2171769"/>
            <a:ext cx="10309669" cy="329457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Clarifies understanding of the field</a:t>
            </a:r>
          </a:p>
          <a:p>
            <a:r>
              <a:rPr lang="en-US" dirty="0"/>
              <a:t>Explains the rationale for your research</a:t>
            </a:r>
          </a:p>
          <a:p>
            <a:r>
              <a:rPr lang="en-US" dirty="0"/>
              <a:t>Places your research within a broader context </a:t>
            </a:r>
          </a:p>
          <a:p>
            <a:r>
              <a:rPr lang="en-US" dirty="0"/>
              <a:t>Evaluates the results of previous research</a:t>
            </a:r>
          </a:p>
          <a:p>
            <a:r>
              <a:rPr lang="en-US" dirty="0"/>
              <a:t>Defines key concepts and ideas  </a:t>
            </a:r>
          </a:p>
          <a:p>
            <a:r>
              <a:rPr lang="en-US" dirty="0"/>
              <a:t>Identifies research in related areas that is generalizable or transferable to your topic</a:t>
            </a:r>
          </a:p>
          <a:p>
            <a:r>
              <a:rPr lang="en-US" dirty="0"/>
              <a:t>Identifies relevant methodological issues </a:t>
            </a:r>
          </a:p>
          <a:p>
            <a:r>
              <a:rPr lang="en-US" dirty="0"/>
              <a:t>The best literature reviews tell a good (non-fiction) story!!! – Regina Winters</a:t>
            </a:r>
          </a:p>
        </p:txBody>
      </p:sp>
    </p:spTree>
    <p:extLst>
      <p:ext uri="{BB962C8B-B14F-4D97-AF65-F5344CB8AC3E}">
        <p14:creationId xmlns:p14="http://schemas.microsoft.com/office/powerpoint/2010/main" val="4237908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C7FA3-FA7F-5741-BD56-8F5F3BFA7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strike="sngStrike" dirty="0"/>
              <a:t>a literature review</a:t>
            </a:r>
            <a:r>
              <a:rPr lang="en-US" dirty="0"/>
              <a:t> an annotated bibliography?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5F63F-E754-3449-BD50-BFA46BC0F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270" y="2002558"/>
            <a:ext cx="4226921" cy="383171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Purpose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Identify known results in an area of research </a:t>
            </a:r>
          </a:p>
          <a:p>
            <a:pPr lvl="1"/>
            <a:r>
              <a:rPr lang="en-US" strike="sngStrike" dirty="0"/>
              <a:t>Identify open questions</a:t>
            </a:r>
          </a:p>
          <a:p>
            <a:pPr lvl="1"/>
            <a:r>
              <a:rPr lang="en-US" strike="sngStrike" dirty="0"/>
              <a:t>Makes a case for the importance of </a:t>
            </a:r>
            <a:r>
              <a:rPr lang="en-US" b="1" strike="sngStrike" dirty="0"/>
              <a:t>your</a:t>
            </a:r>
            <a:r>
              <a:rPr lang="en-US" strike="sngStrike" dirty="0"/>
              <a:t> research project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States your research question/results</a:t>
            </a:r>
          </a:p>
          <a:p>
            <a:r>
              <a:rPr lang="en-US" dirty="0"/>
              <a:t>Process</a:t>
            </a:r>
          </a:p>
          <a:p>
            <a:pPr lvl="1"/>
            <a:r>
              <a:rPr lang="en-US" strike="sngStrike" dirty="0"/>
              <a:t>Many iterations of reviewing, managing, synthesizing, and writing about your thesis project with relevant background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Summarize previous results</a:t>
            </a:r>
          </a:p>
          <a:p>
            <a:pPr lvl="1"/>
            <a:r>
              <a:rPr lang="en-US" strike="sngStrike" dirty="0"/>
              <a:t>A narrative which motivates your research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Summarize your research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F274CA-5684-8248-871D-0DBB181F8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62" y="1477941"/>
            <a:ext cx="3556000" cy="4241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119536-DA8E-524E-B064-EF088D81EE16}"/>
              </a:ext>
            </a:extLst>
          </p:cNvPr>
          <p:cNvSpPr txBox="1"/>
          <p:nvPr/>
        </p:nvSpPr>
        <p:spPr>
          <a:xfrm>
            <a:off x="6849565" y="5719741"/>
            <a:ext cx="45784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hlinkClick r:id="rId3"/>
              </a:rPr>
              <a:t>The Literature Review: A Research Journey, Gutman Library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2621135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C7FA3-FA7F-5741-BD56-8F5F3BFA7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strike="sngStrike" dirty="0"/>
              <a:t>a literature review</a:t>
            </a:r>
            <a:r>
              <a:rPr lang="en-US" dirty="0"/>
              <a:t> an annotated bibliography</a:t>
            </a:r>
            <a:r>
              <a:rPr lang="en-US" baseline="30000" dirty="0"/>
              <a:t>4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5F63F-E754-3449-BD50-BFA46BC0F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lit review is NOT just an annotated bibliography</a:t>
            </a:r>
          </a:p>
          <a:p>
            <a:r>
              <a:rPr lang="en-US" dirty="0"/>
              <a:t>Annotated Bibliographies: </a:t>
            </a:r>
          </a:p>
          <a:p>
            <a:pPr lvl="1"/>
            <a:r>
              <a:rPr lang="en-US" dirty="0"/>
              <a:t>Cite various works </a:t>
            </a:r>
          </a:p>
          <a:p>
            <a:pPr lvl="1"/>
            <a:r>
              <a:rPr lang="en-US" dirty="0"/>
              <a:t>(Haphazardly) Summarize major points of those works </a:t>
            </a:r>
          </a:p>
          <a:p>
            <a:pPr lvl="1"/>
            <a:r>
              <a:rPr lang="en-US" dirty="0"/>
              <a:t>Talk about the importance of each work to the reader or larger community</a:t>
            </a:r>
          </a:p>
          <a:p>
            <a:pPr lvl="1"/>
            <a:r>
              <a:rPr lang="en-US" dirty="0"/>
              <a:t>Discuss gaps in the literature or shortcomings of the works</a:t>
            </a:r>
          </a:p>
          <a:p>
            <a:pPr lvl="1"/>
            <a:r>
              <a:rPr lang="en-US" dirty="0"/>
              <a:t>Are useful tools </a:t>
            </a:r>
          </a:p>
          <a:p>
            <a:pPr lvl="1"/>
            <a:r>
              <a:rPr lang="en-US" dirty="0"/>
              <a:t>Are first steps to a good lit review –</a:t>
            </a:r>
          </a:p>
        </p:txBody>
      </p:sp>
    </p:spTree>
    <p:extLst>
      <p:ext uri="{BB962C8B-B14F-4D97-AF65-F5344CB8AC3E}">
        <p14:creationId xmlns:p14="http://schemas.microsoft.com/office/powerpoint/2010/main" val="1659654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3F2819C-1591-1E4D-86C2-3D121AA6E373}"/>
              </a:ext>
            </a:extLst>
          </p:cNvPr>
          <p:cNvSpPr/>
          <p:nvPr/>
        </p:nvSpPr>
        <p:spPr>
          <a:xfrm>
            <a:off x="-1" y="1202635"/>
            <a:ext cx="12284766" cy="486023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127C522-4381-F448-B41B-C4BAE355C810}"/>
              </a:ext>
            </a:extLst>
          </p:cNvPr>
          <p:cNvSpPr/>
          <p:nvPr/>
        </p:nvSpPr>
        <p:spPr>
          <a:xfrm>
            <a:off x="5774635" y="1751183"/>
            <a:ext cx="6000302" cy="3814730"/>
          </a:xfrm>
          <a:prstGeom prst="ellipse">
            <a:avLst/>
          </a:prstGeom>
          <a:solidFill>
            <a:schemeClr val="accent2">
              <a:lumMod val="20000"/>
              <a:lumOff val="80000"/>
              <a:alpha val="49456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0F8FEA-A188-D84B-A0B8-ECE6BD79840B}"/>
              </a:ext>
            </a:extLst>
          </p:cNvPr>
          <p:cNvSpPr txBox="1"/>
          <p:nvPr/>
        </p:nvSpPr>
        <p:spPr>
          <a:xfrm>
            <a:off x="6803136" y="1919106"/>
            <a:ext cx="4876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r>
              <a:rPr lang="en-US" sz="1500" b="1" dirty="0"/>
              <a:t>Literature Reviews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Synthesize, synthesize, synthesize!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500" dirty="0"/>
              <a:t>Focus in on </a:t>
            </a:r>
            <a:r>
              <a:rPr lang="en-US" sz="1500" i="1" dirty="0"/>
              <a:t>the why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Connecting </a:t>
            </a:r>
            <a:r>
              <a:rPr lang="en-US" sz="1500" i="1" dirty="0"/>
              <a:t>why</a:t>
            </a:r>
            <a:r>
              <a:rPr lang="en-US" sz="1500" dirty="0"/>
              <a:t> with </a:t>
            </a:r>
            <a:r>
              <a:rPr lang="en-US" sz="1500" i="1" dirty="0"/>
              <a:t>how </a:t>
            </a:r>
            <a:r>
              <a:rPr lang="en-US" sz="1500" dirty="0"/>
              <a:t>establishes the relationships between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/>
              <a:t>Motivations and techniques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/>
              <a:t>New avenues of thinking/approach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/>
              <a:t>Limitations and weakness of </a:t>
            </a:r>
            <a:br>
              <a:rPr lang="en-US" sz="1500" dirty="0"/>
            </a:br>
            <a:r>
              <a:rPr lang="en-US" sz="1500" dirty="0"/>
              <a:t>prevailing ideas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Leaves the reader asking “What </a:t>
            </a:r>
            <a:br>
              <a:rPr lang="en-US" sz="1500" dirty="0"/>
            </a:br>
            <a:r>
              <a:rPr lang="en-US" sz="1500" dirty="0"/>
              <a:t>about the case when?”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/>
              <a:t>You and your research project </a:t>
            </a:r>
            <a:br>
              <a:rPr lang="en-US" sz="1500" dirty="0"/>
            </a:br>
            <a:r>
              <a:rPr lang="en-US" sz="1500" dirty="0"/>
              <a:t>can then step forward and say</a:t>
            </a:r>
            <a:br>
              <a:rPr lang="en-US" sz="1500" dirty="0"/>
            </a:br>
            <a:r>
              <a:rPr lang="en-US" sz="1500" dirty="0"/>
              <a:t>“Great question! Let me </a:t>
            </a:r>
            <a:br>
              <a:rPr lang="en-US" sz="1500" dirty="0"/>
            </a:br>
            <a:r>
              <a:rPr lang="en-US" sz="1500" dirty="0"/>
              <a:t>explain.”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6550D1-1DC2-3144-B7DF-7CBF9ADAB812}"/>
              </a:ext>
            </a:extLst>
          </p:cNvPr>
          <p:cNvSpPr txBox="1"/>
          <p:nvPr/>
        </p:nvSpPr>
        <p:spPr>
          <a:xfrm>
            <a:off x="2171662" y="1757524"/>
            <a:ext cx="54168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AA4F22-5343-A44B-A761-DDFCACA9E9F3}"/>
              </a:ext>
            </a:extLst>
          </p:cNvPr>
          <p:cNvSpPr txBox="1"/>
          <p:nvPr/>
        </p:nvSpPr>
        <p:spPr>
          <a:xfrm>
            <a:off x="766855" y="2412053"/>
            <a:ext cx="4240924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Annotated Bibliographies</a:t>
            </a:r>
            <a:endParaRPr lang="en-US" sz="15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Provide background and related results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Who, when, what, and how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Establish conventions and notation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Discuss gaps and issues with existing knowledge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Cite references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Introduce concepts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54138A-7E27-DE44-8EF7-56A62CAA1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0" y="795130"/>
            <a:ext cx="9603275" cy="1207429"/>
          </a:xfrm>
        </p:spPr>
        <p:txBody>
          <a:bodyPr>
            <a:normAutofit/>
          </a:bodyPr>
          <a:lstStyle/>
          <a:p>
            <a:r>
              <a:rPr lang="en-US" sz="2800" dirty="0"/>
              <a:t>A crude schematic</a:t>
            </a:r>
          </a:p>
        </p:txBody>
      </p:sp>
    </p:spTree>
    <p:extLst>
      <p:ext uri="{BB962C8B-B14F-4D97-AF65-F5344CB8AC3E}">
        <p14:creationId xmlns:p14="http://schemas.microsoft.com/office/powerpoint/2010/main" val="3301095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3D751-B6FF-0B47-AE18-23B551D12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process</a:t>
            </a:r>
            <a:r>
              <a:rPr lang="en-US" baseline="30000" dirty="0"/>
              <a:t>4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74D11-3D12-A44C-83F4-F71CA8515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270" y="1500809"/>
            <a:ext cx="9603275" cy="4542182"/>
          </a:xfrm>
        </p:spPr>
        <p:txBody>
          <a:bodyPr>
            <a:normAutofit/>
          </a:bodyPr>
          <a:lstStyle/>
          <a:p>
            <a:r>
              <a:rPr lang="en-US" dirty="0"/>
              <a:t>Define/refine topic </a:t>
            </a:r>
          </a:p>
          <a:p>
            <a:pPr lvl="1"/>
            <a:r>
              <a:rPr lang="en-US" dirty="0"/>
              <a:t>Thesis proposal sets up the project</a:t>
            </a:r>
          </a:p>
          <a:p>
            <a:pPr lvl="1"/>
            <a:r>
              <a:rPr lang="en-US" dirty="0"/>
              <a:t>Inevitably some changes/revisions will occur</a:t>
            </a:r>
          </a:p>
          <a:p>
            <a:r>
              <a:rPr lang="en-US" dirty="0"/>
              <a:t>Determine approach </a:t>
            </a:r>
          </a:p>
          <a:p>
            <a:pPr lvl="1"/>
            <a:r>
              <a:rPr lang="en-US" dirty="0"/>
              <a:t>Contact thesis advisor about canonical research</a:t>
            </a:r>
          </a:p>
          <a:p>
            <a:r>
              <a:rPr lang="en-US" dirty="0"/>
              <a:t>Research effectively</a:t>
            </a:r>
          </a:p>
          <a:p>
            <a:pPr lvl="1"/>
            <a:r>
              <a:rPr lang="en-US" dirty="0"/>
              <a:t>Don’t have to read entire articles in sequential order. Review abstract, intro, discussion/conclusion to assess content first</a:t>
            </a:r>
          </a:p>
        </p:txBody>
      </p:sp>
    </p:spTree>
    <p:extLst>
      <p:ext uri="{BB962C8B-B14F-4D97-AF65-F5344CB8AC3E}">
        <p14:creationId xmlns:p14="http://schemas.microsoft.com/office/powerpoint/2010/main" val="2570402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3D751-B6FF-0B47-AE18-23B551D12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776085"/>
          </a:xfrm>
        </p:spPr>
        <p:txBody>
          <a:bodyPr/>
          <a:lstStyle/>
          <a:p>
            <a:r>
              <a:rPr lang="en-US" dirty="0"/>
              <a:t>What is the process</a:t>
            </a:r>
            <a:r>
              <a:rPr lang="en-US" baseline="30000" dirty="0"/>
              <a:t>4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74D11-3D12-A44C-83F4-F71CA8515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270" y="1729409"/>
            <a:ext cx="9603275" cy="408498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Read critically </a:t>
            </a:r>
          </a:p>
          <a:p>
            <a:r>
              <a:rPr lang="en-US" dirty="0"/>
              <a:t>Analyze, evaluate and take great notes </a:t>
            </a:r>
          </a:p>
          <a:p>
            <a:pPr lvl="1"/>
            <a:r>
              <a:rPr lang="en-US" dirty="0"/>
              <a:t>Requires organization</a:t>
            </a:r>
          </a:p>
          <a:p>
            <a:pPr lvl="1"/>
            <a:r>
              <a:rPr lang="en-US" dirty="0"/>
              <a:t>Take time to set up a reference manager (will show some details on Mendeley)</a:t>
            </a:r>
          </a:p>
          <a:p>
            <a:r>
              <a:rPr lang="en-US" dirty="0"/>
              <a:t>Draft written product </a:t>
            </a:r>
          </a:p>
          <a:p>
            <a:pPr lvl="1"/>
            <a:r>
              <a:rPr lang="en-US" dirty="0"/>
              <a:t>Chronologically vs. thematically</a:t>
            </a:r>
          </a:p>
          <a:p>
            <a:r>
              <a:rPr lang="en-US" dirty="0"/>
              <a:t>Edit and refine</a:t>
            </a:r>
          </a:p>
          <a:p>
            <a:pPr lvl="1"/>
            <a:r>
              <a:rPr lang="en-US" dirty="0"/>
              <a:t>And revise, and revise, and revise, …</a:t>
            </a:r>
          </a:p>
          <a:p>
            <a:r>
              <a:rPr lang="en-US" dirty="0"/>
              <a:t>See </a:t>
            </a:r>
            <a:r>
              <a:rPr lang="en-US" i="1" dirty="0">
                <a:hlinkClick r:id="rId2"/>
              </a:rPr>
              <a:t>Literature Reviews Made Easy</a:t>
            </a:r>
            <a:r>
              <a:rPr lang="en-US" i="1" dirty="0"/>
              <a:t> </a:t>
            </a:r>
            <a:r>
              <a:rPr lang="en-US" dirty="0"/>
              <a:t>for more details on these steps</a:t>
            </a:r>
          </a:p>
          <a:p>
            <a:r>
              <a:rPr lang="en-US" dirty="0"/>
              <a:t>See Nicole Kim’s senior thesis (Canvas) for a great example of an effective literature review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60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3D751-B6FF-0B47-AE18-23B551D12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Managing, Organizing, and Citing a (Massive) Body of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74D11-3D12-A44C-83F4-F71CA8515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269" y="1838740"/>
            <a:ext cx="9603275" cy="491987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Sample theses on Canvas</a:t>
            </a:r>
          </a:p>
          <a:p>
            <a:pPr lvl="1"/>
            <a:r>
              <a:rPr lang="en-US" dirty="0"/>
              <a:t>~35 – 45 references is common</a:t>
            </a:r>
          </a:p>
          <a:p>
            <a:pPr marL="914400" lvl="2" indent="0">
              <a:buNone/>
            </a:pPr>
            <a:r>
              <a:rPr lang="en-US" dirty="0"/>
              <a:t>X [(multiple, sometimes &gt;10) authors per article </a:t>
            </a:r>
          </a:p>
          <a:p>
            <a:pPr marL="914400" lvl="2" indent="0">
              <a:buNone/>
            </a:pPr>
            <a:r>
              <a:rPr lang="en-US" dirty="0"/>
              <a:t>	+ title </a:t>
            </a:r>
          </a:p>
          <a:p>
            <a:pPr marL="914400" lvl="2" indent="0">
              <a:buNone/>
            </a:pPr>
            <a:r>
              <a:rPr lang="en-US" dirty="0"/>
              <a:t>	+ journal/book/publisher</a:t>
            </a:r>
          </a:p>
          <a:p>
            <a:pPr marL="914400" lvl="2" indent="0">
              <a:buNone/>
            </a:pPr>
            <a:r>
              <a:rPr lang="en-US" dirty="0"/>
              <a:t>	+ volume/no/issue, </a:t>
            </a:r>
          </a:p>
          <a:p>
            <a:pPr marL="914400" lvl="2" indent="0">
              <a:buNone/>
            </a:pPr>
            <a:r>
              <a:rPr lang="en-US" dirty="0"/>
              <a:t>	+ pages</a:t>
            </a:r>
          </a:p>
          <a:p>
            <a:pPr marL="914400" lvl="2" indent="0">
              <a:buNone/>
            </a:pPr>
            <a:r>
              <a:rPr lang="en-US" dirty="0"/>
              <a:t>	+ date</a:t>
            </a:r>
          </a:p>
          <a:p>
            <a:pPr marL="914400" lvl="2" indent="0">
              <a:buNone/>
            </a:pPr>
            <a:r>
              <a:rPr lang="en-US" dirty="0"/>
              <a:t>]</a:t>
            </a:r>
          </a:p>
          <a:p>
            <a:pPr marL="914400" lvl="2" indent="0">
              <a:buNone/>
            </a:pPr>
            <a:r>
              <a:rPr lang="en-US" dirty="0"/>
              <a:t>= massive amount of text information to type, format, track, and cite</a:t>
            </a:r>
          </a:p>
          <a:p>
            <a:pPr lvl="1"/>
            <a:r>
              <a:rPr lang="en-US" dirty="0"/>
              <a:t>Changing citation style/format or adding/removing citations could require redoing all of this </a:t>
            </a:r>
            <a:r>
              <a:rPr lang="en-US" b="1" dirty="0"/>
              <a:t>work manually</a:t>
            </a:r>
          </a:p>
          <a:p>
            <a:r>
              <a:rPr lang="en-US" dirty="0"/>
              <a:t>Or Resource Manager + </a:t>
            </a:r>
            <a:r>
              <a:rPr lang="en-US" dirty="0" err="1"/>
              <a:t>BibTex</a:t>
            </a:r>
            <a:r>
              <a:rPr lang="en-US" dirty="0"/>
              <a:t> + </a:t>
            </a:r>
            <a:r>
              <a:rPr lang="en-US" dirty="0" err="1"/>
              <a:t>LaTeX</a:t>
            </a:r>
            <a:endParaRPr lang="en-US" dirty="0"/>
          </a:p>
          <a:p>
            <a:pPr lvl="1"/>
            <a:r>
              <a:rPr lang="en-US" dirty="0"/>
              <a:t>Quick overview of Chrome to Mendeley to Thesis Template workflow</a:t>
            </a:r>
          </a:p>
          <a:p>
            <a:pPr lvl="1"/>
            <a:r>
              <a:rPr lang="en-US" dirty="0"/>
              <a:t>NOTE: Some cleaning within Mendeley will be needed but greatly simplifies the process!!!</a:t>
            </a:r>
          </a:p>
          <a:p>
            <a:endParaRPr lang="en-US" dirty="0"/>
          </a:p>
          <a:p>
            <a:pPr marL="914400" lvl="2" indent="0">
              <a:buNone/>
            </a:pPr>
            <a:r>
              <a:rPr lang="en-US" dirty="0"/>
              <a:t>	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09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36147-02BB-0FCF-E8FB-478C8CDD9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270" y="1610138"/>
            <a:ext cx="10160582" cy="417443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Speak with you advisor(s) about articles to start</a:t>
            </a:r>
          </a:p>
          <a:p>
            <a:r>
              <a:rPr lang="en-US" dirty="0"/>
              <a:t>Search Hollis, Google Scholar, Web of Science, LLMs*, etc.</a:t>
            </a:r>
          </a:p>
          <a:p>
            <a:pPr lvl="1"/>
            <a:r>
              <a:rPr lang="en-US" dirty="0"/>
              <a:t>Using these tools well is a </a:t>
            </a:r>
            <a:r>
              <a:rPr lang="en-US" b="1" dirty="0"/>
              <a:t>skill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Massive amount of literature.</a:t>
            </a:r>
          </a:p>
          <a:p>
            <a:pPr lvl="1"/>
            <a:r>
              <a:rPr lang="en-US" dirty="0"/>
              <a:t>Finding the best search phrases to discover what you want takes time to master.</a:t>
            </a:r>
          </a:p>
          <a:p>
            <a:r>
              <a:rPr lang="en-US" dirty="0"/>
              <a:t>AI/LLMs can be useful tools to help identify and summarize articles</a:t>
            </a:r>
          </a:p>
          <a:p>
            <a:pPr lvl="1"/>
            <a:r>
              <a:rPr lang="en-US" b="1" dirty="0"/>
              <a:t>WARNING: </a:t>
            </a:r>
            <a:r>
              <a:rPr lang="en-US" dirty="0"/>
              <a:t>they can also completely fabricate or misinterpret results so you must check everything!</a:t>
            </a:r>
          </a:p>
          <a:p>
            <a:pPr lvl="1"/>
            <a:r>
              <a:rPr lang="en-US" b="1" dirty="0"/>
              <a:t>WARNING: </a:t>
            </a:r>
            <a:r>
              <a:rPr lang="en-US" dirty="0"/>
              <a:t>do not use AI/LLMs to generate any text that is submitted in your thesis.</a:t>
            </a:r>
          </a:p>
          <a:p>
            <a:pPr lvl="2"/>
            <a:r>
              <a:rPr lang="en-US" dirty="0"/>
              <a:t>Doing so is plagiarism</a:t>
            </a:r>
          </a:p>
          <a:p>
            <a:pPr lvl="2"/>
            <a:r>
              <a:rPr lang="en-US" dirty="0"/>
              <a:t>Editing or revisions are OK.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159A27-B06A-B7F4-50B1-BEC32ADF1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0" y="953325"/>
            <a:ext cx="9603275" cy="736328"/>
          </a:xfrm>
        </p:spPr>
        <p:txBody>
          <a:bodyPr/>
          <a:lstStyle/>
          <a:p>
            <a:r>
              <a:rPr lang="en-US" dirty="0"/>
              <a:t>Finding references</a:t>
            </a:r>
          </a:p>
        </p:txBody>
      </p:sp>
    </p:spTree>
    <p:extLst>
      <p:ext uri="{BB962C8B-B14F-4D97-AF65-F5344CB8AC3E}">
        <p14:creationId xmlns:p14="http://schemas.microsoft.com/office/powerpoint/2010/main" val="200692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18164-A6ED-8844-8ADE-E2510206C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and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6E13B-B471-4044-A12A-FCEDDB0AB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i="1" dirty="0">
                <a:hlinkClick r:id="rId2"/>
              </a:rPr>
              <a:t>Senior Thesis Writing Guides</a:t>
            </a:r>
            <a:r>
              <a:rPr lang="en-US" dirty="0"/>
              <a:t>, Harvard Writing Project</a:t>
            </a:r>
            <a:br>
              <a:rPr lang="en-US" dirty="0"/>
            </a:br>
            <a:r>
              <a:rPr lang="en-US" dirty="0"/>
              <a:t>	</a:t>
            </a:r>
            <a:r>
              <a:rPr lang="en-US" sz="1800" i="1" dirty="0"/>
              <a:t>Includes links to resources that you can use during your thesis!!!</a:t>
            </a:r>
          </a:p>
          <a:p>
            <a:pPr marL="457200" indent="-457200">
              <a:buFont typeface="+mj-lt"/>
              <a:buAutoNum type="arabicPeriod"/>
            </a:pPr>
            <a:r>
              <a:rPr lang="en-US" i="1" dirty="0">
                <a:hlinkClick r:id="rId3"/>
              </a:rPr>
              <a:t>The Literature Review: A Research Journey</a:t>
            </a:r>
            <a:r>
              <a:rPr lang="en-US" dirty="0"/>
              <a:t>, Gutman Library, Harvard University</a:t>
            </a:r>
            <a:endParaRPr lang="en-US" i="1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Christy Ley, </a:t>
            </a:r>
            <a:r>
              <a:rPr lang="en-US" i="1" dirty="0"/>
              <a:t>The Thesis Writing Process and Literature Review</a:t>
            </a:r>
            <a:r>
              <a:rPr lang="en-US" dirty="0"/>
              <a:t>, Senior Thesis Tutorial Oct. 10, 2013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UCCS School of Public Affairs, </a:t>
            </a:r>
            <a:r>
              <a:rPr lang="en-US" i="1" dirty="0"/>
              <a:t>Literature Reviews Made Easy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Charlotte Lloyd, </a:t>
            </a:r>
            <a:r>
              <a:rPr lang="en-US" i="1" dirty="0">
                <a:hlinkClick r:id="rId4"/>
              </a:rPr>
              <a:t>Literature Reviews for Sociology Senior Theses</a:t>
            </a:r>
            <a:endParaRPr lang="en-US" i="1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Dena Taylor &amp; Margaret Procter, </a:t>
            </a:r>
            <a:r>
              <a:rPr lang="en-US" i="1" dirty="0"/>
              <a:t>The Literature Review: A Few Tips on Conducting It</a:t>
            </a:r>
          </a:p>
          <a:p>
            <a:pPr marL="457200" indent="-457200">
              <a:buFont typeface="+mj-lt"/>
              <a:buAutoNum type="arabicPeriod"/>
            </a:pPr>
            <a:r>
              <a:rPr lang="en-US" i="1" dirty="0">
                <a:hlinkClick r:id="rId5"/>
              </a:rPr>
              <a:t>Senior Thesis Research: Literature Review</a:t>
            </a:r>
            <a:r>
              <a:rPr lang="en-US" i="1" dirty="0"/>
              <a:t>, </a:t>
            </a:r>
            <a:r>
              <a:rPr lang="en-US" dirty="0"/>
              <a:t>Princeton Libraries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22333604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2CB663"/>
      </a:accent4>
      <a:accent5>
        <a:srgbClr val="DF8822"/>
      </a:accent5>
      <a:accent6>
        <a:srgbClr val="BC410A"/>
      </a:accent6>
      <a:hlink>
        <a:srgbClr val="5977C4"/>
      </a:hlink>
      <a:folHlink>
        <a:srgbClr val="A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{21D332AF-3271-8146-942F-B91C5D15DCDB}tf10001119</Template>
  <TotalTime>272</TotalTime>
  <Words>885</Words>
  <Application>Microsoft Macintosh PowerPoint</Application>
  <PresentationFormat>Widescreen</PresentationFormat>
  <Paragraphs>113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Century Gothic</vt:lpstr>
      <vt:lpstr>Gallery</vt:lpstr>
      <vt:lpstr>A brief guide to literature reviews, managing citations, and using BibTeX</vt:lpstr>
      <vt:lpstr>What is a literature review?</vt:lpstr>
      <vt:lpstr>What is a literature review4?</vt:lpstr>
      <vt:lpstr>What is a literature review an annotated bibliography?</vt:lpstr>
      <vt:lpstr>What is a literature review an annotated bibliography4?</vt:lpstr>
      <vt:lpstr>A crude schematic</vt:lpstr>
      <vt:lpstr>What is the process4?</vt:lpstr>
      <vt:lpstr>What is the process4?</vt:lpstr>
      <vt:lpstr>Managing, Organizing, and Citing a (Massive) Body of Research</vt:lpstr>
      <vt:lpstr>Finding references</vt:lpstr>
      <vt:lpstr>References and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brief guide to literature reviews, managing citations, and using BibTeX</dc:title>
  <dc:creator>Microsoft Office User</dc:creator>
  <cp:lastModifiedBy>Young, Alex</cp:lastModifiedBy>
  <cp:revision>18</cp:revision>
  <dcterms:created xsi:type="dcterms:W3CDTF">2020-09-22T14:18:27Z</dcterms:created>
  <dcterms:modified xsi:type="dcterms:W3CDTF">2025-10-03T14:51:00Z</dcterms:modified>
</cp:coreProperties>
</file>